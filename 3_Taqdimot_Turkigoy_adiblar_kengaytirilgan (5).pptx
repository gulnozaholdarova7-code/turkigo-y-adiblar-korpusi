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Xarajatlar tarkibi, mln soʻm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mln soʻm</c:v>
                </c:pt>
              </c:strCache>
            </c:strRef>
          </c:tx>
          <c:spPr>
            <a:solidFill>
              <a:srgbClr val="5B1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3 filolog-mutaxassis</c:v>
                  </c:pt>
                  <c:pt idx="1">
                    <c:v>Loyiha rahbari</c:v>
                  </c:pt>
                  <c:pt idx="2">
                    <c:v>Xorijiy seminarlar</c:v>
                  </c:pt>
                  <c:pt idx="3">
                    <c:v>“Ziyokor” oʻqituvchisi</c:v>
                  </c:pt>
                  <c:pt idx="4">
                    <c:v>Dasturchi</c:v>
                  </c:pt>
                  <c:pt idx="5">
                    <c:v>Orgtexnika</c:v>
                  </c:pt>
                  <c:pt idx="6">
                    <c:v>Server</c:v>
                  </c:pt>
                  <c:pt idx="7">
                    <c:v>Kutilmagan</c:v>
                  </c:pt>
                  <c:pt idx="8">
                    <c:v>Aprobatsiya</c:v>
                  </c:pt>
                  <c:pt idx="9">
                    <c:v>Nashrlar, ruxsat</c:v>
                  </c:pt>
                  <c:pt idx="10">
                    <c:v>Intellektual mulk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180</c:v>
                </c:pt>
                <c:pt idx="1">
                  <c:v>96</c:v>
                </c:pt>
                <c:pt idx="2">
                  <c:v>90</c:v>
                </c:pt>
                <c:pt idx="3">
                  <c:v>60</c:v>
                </c:pt>
                <c:pt idx="4">
                  <c:v>48</c:v>
                </c:pt>
                <c:pt idx="5">
                  <c:v>44</c:v>
                </c:pt>
                <c:pt idx="6">
                  <c:v>18</c:v>
                </c:pt>
                <c:pt idx="7">
                  <c:v>17</c:v>
                </c:pt>
                <c:pt idx="8">
                  <c:v>15</c:v>
                </c:pt>
                <c:pt idx="9">
                  <c:v>10</c:v>
                </c:pt>
                <c:pt idx="10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Assalomu alaykum. Men Gulnoza Xoldorova, Namangan davlat universitetidan. Sizga “Turkigoʻy adiblar” — turkiy mumtoz sheʼriyatning raqamli ilmiy korpus platformasini taqdim etaman.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 uchta: nashrlar tarqoq va kam nusxali, tahlil sekin, mavjud korpuslar esa mumtoz turkiy sheʼriyatni yaxlit qamramaydi.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Loyihaning ilmiy asosini eʼlon qilingan maqolamiz tashkil etadi. Unda maqsad va beshta vazifa belgilangan.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Nazariy poydevor — Sinclair, McEnery va Wilson, Biber ishlari. Turkiy material uchun Erdal grammatikasi, kodlash uchun TEI standarti.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Korpusimiz diaxronik va koʻp muallifli ixtisoslashgan turlarni birlashtiradi, har bir matn nashrga bogʻlangani uchun iqtibosga tayyor manba vazifasini ham bajaradi.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bosqich hujjatlashtiriladi, shu tufayli jarayon takrorlanuvchan va tekshiriluvchan boʻladi.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bosqichda Lutfiy, Sakkokiy, Gadoiy, Hofiz Xorazmiy va Atoyi devonlari. Keyin korpus modulli ravishda boshqa adiblar bilan kengayadi.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Platforma besh qatlamdan iborat. Bu model eʼlon qilingan ilmiy maqolamizda asoslangan va toʻrt tamoyilga tayanadi.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Oltita annotatsiya qatlami. Aruz qatlami — bizning asosiy ilmiy hissamiz; u keyingi bosqichda joriy etiladi.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Qatlamlar bir-biriga bogʻlangan: bitta misra boʻyicha soʻrov barcha darajadagi maʼlumotni qaytaradi.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Uzoq muddatli qamrov VIII–XIX asrlar. Pilot bosqich klassik chigʻatoy davridan boshlanadi.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Tarixiy matnlar korpusining toʻrt asosiy qiyinchiligi va ularga taklif etilgan yechimlar.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Statistik vositalar uslubshunoslik va atributsiya masalalarini miqdoriy dalil bilan hal qilishga yordam beradi.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Asosiy yangilik — aruz-vazn qatlami. Shuningdek, har bir matn manbaga bogʻlanadi va orfografik variantlar lemma ostida birlashtiriladi.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Tadqiqotchi, oʻqituvchi va talaba uchun olti asosiy imkoniyat.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Korpus olti yoʻnalishda amaliy natija beradi.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Prototip tayyor va darslarda sinalmoqda. 18 oy ichida toʻliq pilot korpus va tijoriy versiyaga chiqamiz.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Ochiq manba mualliflikdan voz kechish emas: dastur roʻyxatdan oʻtadi, keyin erkin foydalanish uchun ochiladi. Nashr matnlarida huquq egalarining roziligi hisobga olinadi.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Ochiq manba modeli. Korpus hamma uchun bepul; daromad joriy etish, kurslar, API va buyurtma xizmatlaridan olinadi.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Jamoa 6 kishidan iborat: rahbar, uch filolog, oʻquv markazidan metodist va dasturchi. Bu tarkib ilmiy sifat, maktab auditoriyasi va texnik qismni birdek qamraydi.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Investitsiyaning asosiy qismi — jamoa ish haqi: loyiha rahbari, uch filolog, “Ziyokor” oʻqituvchisi va dasturchi. Uchinchi yilda xizmatlardan yillik daromad investitsiyaning taxminan yarmiga yetadi. Xorijiy seminarlar Turkiya va Ozarbayjon olimlari bilan hamkorlikni yoʻlga qoʻyish uchun moʻljallangan.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Toʻrtta ilmiy yangilik. Keyingi bosqich — pilot versiya, annotatsiyani avtomatlashtirish va turkiy tillararo parallel korpuslar bilan bogʻlash.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Manbalar roʻyxati eʼlon qilingan maqolaning adabiyotlar roʻyxatiga 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Loyiha ilm-fan, taʼlim va madaniy meros uchun birdek foydali. Eʼtiboringiz uchun rahmat.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1097280"/>
            <a:ext cx="2377440" cy="2377440"/>
          </a:xfrm>
          <a:prstGeom prst="ellipse">
            <a:avLst/>
          </a:prstGeom>
          <a:solidFill>
            <a:srgbClr val="7A2A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3736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Xotin-qizlar oʻrtasidagi “Hududning eng yaxshi 100 ta innovatsion loyihalari” tanlovi · Eng yaxshi taʼlim va ijtimoiy innovatsiya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TURKIGOʻY ADIBLAR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Turkiy mumtoz sheʼriyatning aruz annotatsiyali elektron ilmiy korpus platformasi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rahbari: Gulnoza Xoldorova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Namangan davlat universiteti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Muammo: meros bor, raqamli vosita yoʻq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3108960"/>
          </a:xfrm>
          <a:prstGeom prst="rect">
            <a:avLst/>
          </a:prstGeom>
          <a:solidFill>
            <a:srgbClr val="F4EEF0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5B1A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Tarqoq manbalar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346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Devonlar turli yillarda, turli yozuvlarda nashr etilgan; nashrlar kam nusxali va elektron qidiruvga yaroqsiz.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64408" y="1234440"/>
            <a:ext cx="2560320" cy="3108960"/>
          </a:xfrm>
          <a:prstGeom prst="rect">
            <a:avLst/>
          </a:prstGeom>
          <a:solidFill>
            <a:srgbClr val="F4EEF0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38728" y="1463040"/>
            <a:ext cx="731520" cy="731520"/>
          </a:xfrm>
          <a:prstGeom prst="ellipse">
            <a:avLst/>
          </a:prstGeom>
          <a:solidFill>
            <a:srgbClr val="5B1A2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645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Sekin tahlil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28346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Soʻz yoki shaklning asrlar boʻylab qoʻllanishini qoʻlda kuzatish oylab vaqt oladi.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71616" y="1234440"/>
            <a:ext cx="2560320" cy="3108960"/>
          </a:xfrm>
          <a:prstGeom prst="rect">
            <a:avLst/>
          </a:prstGeom>
          <a:solidFill>
            <a:srgbClr val="F4EEF0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45936" y="1463040"/>
            <a:ext cx="731520" cy="731520"/>
          </a:xfrm>
          <a:prstGeom prst="ellipse">
            <a:avLst/>
          </a:prstGeom>
          <a:solidFill>
            <a:srgbClr val="5B1A2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6459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45936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Boʻsh joy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45936" y="28346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korpuslar yo eski turkiy, yo zamonaviy til, yoki bitta muallif bilan cheklangan.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XV asr turkiygoʻy shoirlarini yagona, nashrga bogʻlangan va izohli asosda qamrovchi ilmiy korpus hali mavjud emas.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Dolzarblik, maqsad va vazifalar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840480" cy="3749040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Dolzarblik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Milliy-madaniy merosni raqamlashtirish va keng ilmiy muomalaga jalb etish davlat siyosatining ustuvor yoʻnalishlaridan biri.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Jahon filologiyasida raqamli gumanitar fanlar (digital humanities) milliy merosni saqlash va xalqaro targʻib qilishning zamonaviy shakliga aylandi.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Turkiygoʻy mumtoz adiblar ilmiy elektron korpusining tamoyillari, tuzilishi va metodologiyasini ishlab chiqish va amalga oshirish.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Vazifalar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508760"/>
            <a:ext cx="457200" cy="457200"/>
          </a:xfrm>
          <a:prstGeom prst="ellipse">
            <a:avLst/>
          </a:prstGeom>
          <a:solidFill>
            <a:srgbClr val="2E4A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va xalqaro korpuslar tajribasini qiyosiy oʻrganish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2112264"/>
            <a:ext cx="457200" cy="457200"/>
          </a:xfrm>
          <a:prstGeom prst="ellipse">
            <a:avLst/>
          </a:prstGeom>
          <a:solidFill>
            <a:srgbClr val="2E4A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11226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tanlashning manba-tanqidiy mezonlarini asoslash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2715768"/>
            <a:ext cx="457200" cy="457200"/>
          </a:xfrm>
          <a:prstGeom prst="ellipse">
            <a:avLst/>
          </a:prstGeom>
          <a:solidFill>
            <a:srgbClr val="2E4A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71576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Koʻp qatlamli arxitekturani modellashtirish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3319272"/>
            <a:ext cx="457200" cy="457200"/>
          </a:xfrm>
          <a:prstGeom prst="ellipse">
            <a:avLst/>
          </a:prstGeom>
          <a:solidFill>
            <a:srgbClr val="2E4A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33192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Annotatsiya darajalarini, jumladan aruz-vazn qatlamini ishlab chiqish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0" y="3922776"/>
            <a:ext cx="457200" cy="457200"/>
          </a:xfrm>
          <a:prstGeom prst="ellipse">
            <a:avLst/>
          </a:prstGeom>
          <a:solidFill>
            <a:srgbClr val="2E4A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92277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Korpusning ilmiy va lingvodidaktik ahamiyatini ochib berish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572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Obyekt: mumtoz meros yozma matnlarini raqamlashtirish va korpus shaklida tashkil etish jarayoni. Predmet: tamoyillar, tuzilish va annotatsiya metodologiyasi.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asos: korpus lingvistikasi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07592"/>
            <a:ext cx="548640" cy="54864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43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J. Sinclair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Konkordans va kollokatsiya tahlilining metodologik tamoyillari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0515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307592"/>
            <a:ext cx="548640" cy="548640"/>
          </a:xfrm>
          <a:prstGeom prst="ellipse">
            <a:avLst/>
          </a:prstGeom>
          <a:solidFill>
            <a:srgbClr val="2E4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1430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T. McEnery, A. Wilson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Korpusning til tadqiqotidagi oʻrni va annotatsiya darajalari tizimi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4023360" cy="10515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23744"/>
            <a:ext cx="548640" cy="54864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523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3591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 Biber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 dizaynida reprezentativlik va muvozanat mezonlari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267712"/>
            <a:ext cx="4023360" cy="10515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2523744"/>
            <a:ext cx="548640" cy="548640"/>
          </a:xfrm>
          <a:prstGeom prst="ellipse">
            <a:avLst/>
          </a:prstGeom>
          <a:solidFill>
            <a:srgbClr val="2E4A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2523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3591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P. Baker, A. Hardie, T. McEnery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 lingvistikasining tushunchaviy apparati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83864"/>
            <a:ext cx="4023360" cy="10515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739896"/>
            <a:ext cx="548640" cy="54864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739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57530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 Erdal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turkiy tilning grammatik tavsifi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3483864"/>
            <a:ext cx="4023360" cy="10515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739896"/>
            <a:ext cx="548640" cy="548640"/>
          </a:xfrm>
          <a:prstGeom prst="ellipse">
            <a:avLst/>
          </a:prstGeom>
          <a:solidFill>
            <a:srgbClr val="2E4A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46320" y="3739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357530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TEI Consortium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Matnlarni XML asosida kodlash xalqaro standarti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Korpusning tipologik oʻrni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474720" cy="7315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Milliy korpus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tilning butun tizimi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474720" cy="7315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Mualliflik korpusi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ijodkor tili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474720" cy="731520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Diaxronik korpus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tilning tarixiy oʻzgarishi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3474720" cy="731520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Ixtisoslashgan korpus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muayyan soha yoki janr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06240" y="1920240"/>
            <a:ext cx="1097280" cy="10972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19202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5577840" y="1097280"/>
            <a:ext cx="3108960" cy="3429000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1234440"/>
            <a:ext cx="2697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Turkigoʻy adiblar korpusi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diaxronik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koʻp muallifli ixtisoslashgan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nashrga asoslangan (nashrlararo variantli)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murakkab tabiat mavjud korpus turlaridan farqli maxsus metodologik yechimlarni talab qiladi.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Metodologiya: yetti bosqichli ish oqimi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1097280" cy="1737360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1280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Loyihalash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mezonlarni belgilash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27632" y="1188720"/>
            <a:ext cx="1097280" cy="1737360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27632" y="1280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673352" y="18745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Nashrlar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tanlash va tavsiflash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43784" y="1188720"/>
            <a:ext cx="1097280" cy="1737360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43784" y="1280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18745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Raqamlashtirish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nashr matni, qoʻlda tekshiruv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59936" y="1188720"/>
            <a:ext cx="1097280" cy="1737360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59936" y="1280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105656" y="18745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Unicode, TEI/XML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76088" y="1188720"/>
            <a:ext cx="1097280" cy="1737360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76088" y="1280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321808" y="18745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Annotatsiya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koʻp bosqichli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1188720"/>
            <a:ext cx="1097280" cy="1737360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1280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18745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 menejeri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08392" y="1188720"/>
            <a:ext cx="1097280" cy="1737360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08392" y="1280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7754112" y="187452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nazorati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mutaxassis tekshiruvi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1546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Qoʻllangan usullar: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korpuslarni qiyosiy tahlil qilish, tarkibiy modellashtirish, manba-tanqidiy mezonlar, annotatsiyani tizimli tavsiflash.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Biber reprezentativlik tamoyili va BNC/TNC amaliyoti tarixiy turkiy matnlarga moslashtirilgan; muallif, janr, davr va manba turi boʻyicha muvozanat.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Leksikografik tayanch: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“Abushqa”, “Sanglox” va Navoiy asarlari tilining izohli lugʻatlari.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Yechim: besh adib — bitta raqamli platforma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korpusga XV asr turkiy sheʼriyatining besh yirik vakili devonlarining ilmiy nashrlari kiritiladi. Har bir bayt nashr va sahifaga bogʻlanadi, soʻzlari izoh va aruz vazni bilan beriladi.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097280" cy="109728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Lutfiy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14016" y="2011680"/>
            <a:ext cx="1097280" cy="1097280"/>
          </a:xfrm>
          <a:prstGeom prst="ellipse">
            <a:avLst/>
          </a:prstGeom>
          <a:solidFill>
            <a:srgbClr val="2E4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14016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093976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Sakkokiy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093976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96512" y="2011680"/>
            <a:ext cx="1097280" cy="109728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96512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3776472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Gadoiy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76472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79008" y="2011680"/>
            <a:ext cx="1097280" cy="1097280"/>
          </a:xfrm>
          <a:prstGeom prst="ellipse">
            <a:avLst/>
          </a:prstGeom>
          <a:solidFill>
            <a:srgbClr val="2E4A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79008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Hofiz Xorazmiy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5896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61504" y="2011680"/>
            <a:ext cx="1097280" cy="109728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61504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7141464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Atoyi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41464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0690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 iqtibos:  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bayt  →  gʻazal  →  devon  →  nashr, yil, sahifa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Besh qatlamli arxitektura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937760" cy="621792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Interfeys va qidiruv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KWIC, filtrlar, chastota, eksport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4663440" cy="621792"/>
          </a:xfrm>
          <a:prstGeom prst="rect">
            <a:avLst/>
          </a:prstGeom>
          <a:solidFill>
            <a:srgbClr val="7430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Annotatsiya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· lemma · morfologiya · aruz · izoh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4389120" cy="621792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51460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Nashr metamaʼlumoti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muallif, nashr, sahifa, nashrlararo tafovutlar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4114800" cy="621792"/>
          </a:xfrm>
          <a:prstGeom prst="rect">
            <a:avLst/>
          </a:prstGeom>
          <a:solidFill>
            <a:srgbClr val="4563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2461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Matnni qayta ishlash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raqamlashtirish, tekshiruv, lotin yozuvi, TEI/XML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3977640"/>
            <a:ext cx="3840480" cy="621792"/>
          </a:xfrm>
          <a:prstGeom prst="rect">
            <a:avLst/>
          </a:prstGeom>
          <a:solidFill>
            <a:srgbClr val="5E7B6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977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Nashrlar bazasi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devonlarning ilmiy nashrlari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05156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Ilmiy asos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OAK roʻyxatidagi jurnalda eʼlon qilingan maqolada asoslangan.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Toʻrt tamoyil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ilmiylik va manba ishonchliligi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reprezentativlik va muvozanat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iqtibosga yaroqlilik (nashr metamaʼlumoti)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koʻp qatlamlilik va standartlashtirish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Annotatsiya qatlamlari va vazifalari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Qatlam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Mazmuni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Tadqiqotdagi vazifasi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matnni soʻz va turgʻun birliklarga ajratish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qidiruv birligini shakllantirish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Lemmatizatsiya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soʻz shaklini asosga keltirish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tarixiy shakllarni birlashtirib qidirish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Morfologik teg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soʻz turkumi va grammatik shakl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grammatik va statistik tahlil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Aruz-vazn (rejada)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sheʼriy oʻlchov va taqteʼ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poetik va uslubiy tadqiqot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Janr va uslub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asar janri, izohtalab soʻzlar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textologik va lingvodidaktik tahlil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Nashr metamaʼlumoti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muallif, asar, nashr, yil, sahifa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iqtibos, ishonchlilik va filtrlash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Prototipda matn, nashr metamaʼlumoti va soʻz izohlari ishlaydi; lemma, morfologiya va aruz qatlamlari keyingi bosqichda qoʻshiladi.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Bitta misra — yagona soʻrovda toʻrt qatlam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Nashrdan olingan misra (lotin yozuvida, nashr va sahifa bilan)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920240" cy="17373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432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Tokenlash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misra soʻz va turgʻun birliklarga ajratiladi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0" y="2103120"/>
            <a:ext cx="1920240" cy="17373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7432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Lemma va izoh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oʻzbekcha shakl lemma va maʼnosi bilan bogʻlanadi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1920240" cy="17373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7432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Morfologik teg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soʻz turkumi va grammatik shakl belgilanadi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66560" y="2103120"/>
            <a:ext cx="1920240" cy="17373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037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7432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Aruz qatlami (rejada)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misraning vazni va taqteʼi qayd etiladi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</a:t>
            </a:r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leksik, grammatik va poetik maʼlumotni bitta soʻrov orqali oladi. Korpus oddiy matn omboridan tahliliy vositaga aylanadi.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Diaxronik tuzilma va matn tanlash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880360"/>
            <a:ext cx="1920240" cy="1097280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Eski turkiy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2377440"/>
            <a:ext cx="1920240" cy="1600200"/>
          </a:xfrm>
          <a:prstGeom prst="rect">
            <a:avLst/>
          </a:prstGeom>
          <a:solidFill>
            <a:srgbClr val="7430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5176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Ilk chigʻatoy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874520"/>
            <a:ext cx="1920240" cy="2103120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Klassik chigʻatoy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bosqich: XV asrning 5 adibi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920240" cy="2606040"/>
          </a:xfrm>
          <a:prstGeom prst="rect">
            <a:avLst/>
          </a:prstGeom>
          <a:solidFill>
            <a:srgbClr val="7430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463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Soʻnggi chigʻatoy – ilk zamonaviy oʻzbek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tanlash (xronologik): 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Orxun-Enasoy bitiklari · “Qutadgʻu bilig”, “Hibat ul-haqoyiq” · Yassaviy, Rabgʻuziy · “Muhabbatnoma”, Sayfi Saroyi · Lutfiy, Navoiy · Bobur, Mashrab, Ogahiy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 kesimidagi tabaqalash soʻz, shakl yoki uslubiy hodisaning asrlar davomidagi evrilishini kuzatishga imkon beradi: korpus tarixiy tilshunoslik uchun empirik laboratoriyaga aylanadi.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Ilmiy-texnik muammolar va yechimlar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Yechim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7315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Mualliflik huquqi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 nashr tuzuvchilari va nashriyotlarning huquqlari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4173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731520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Huquqiy holatni aniqlash, ruxsat olish, ochiq annotatsiya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931920" cy="7315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26771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Nashrlararo tafovut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devonning nashrlarida soʻz va baytlar farq qiladi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267712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54880" y="2267712"/>
            <a:ext cx="3931920" cy="731520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226771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nashr tanlanadi, farqlar metamaʼlumotda qayd etiladi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18104"/>
            <a:ext cx="3931920" cy="7315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11810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Kirilldan lotinga oʻgirish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nashrlar kirill yozuvida, avtomatik oʻgirishda xato chiqadi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3118104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754880" y="3118104"/>
            <a:ext cx="3931920" cy="731520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311810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oʻgirish qoidalari va qoʻlda tekshiruv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68496"/>
            <a:ext cx="3931920" cy="7315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96849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Morfologik koʻp maʼnolilik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shakl bir necha grammatik talqinga ega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968496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754880" y="3968496"/>
            <a:ext cx="3931920" cy="731520"/>
          </a:xfrm>
          <a:prstGeom prst="rect">
            <a:avLst/>
          </a:prstGeom>
          <a:solidFill>
            <a:srgbClr val="2E4A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92040" y="396849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Tarixiy lugʻatlar asosida qoʻlda meʼyoriylashtirish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Lingvostatistik tahlil imkoniyatlari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572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Chastota roʻyxati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05156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 yoki muallif tilidagi eng faol soʻz va shakllar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4572000" cy="603504"/>
          </a:xfrm>
          <a:prstGeom prst="rect">
            <a:avLst/>
          </a:prstGeom>
          <a:solidFill>
            <a:srgbClr val="F4EE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6479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Type-token nisbati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764792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matnning leksik boyligi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78024"/>
            <a:ext cx="4572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78024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Hapax legomena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78024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noyob va izohtalab birliklar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91256"/>
            <a:ext cx="4572000" cy="603504"/>
          </a:xfrm>
          <a:prstGeom prst="rect">
            <a:avLst/>
          </a:prstGeom>
          <a:solidFill>
            <a:srgbClr val="F4EE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9125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Kollokatsiya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3191256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soʻzlarning barqaror birikuvchanligi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04488"/>
            <a:ext cx="4572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90448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N-grammlar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90448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turgʻun ibora va formulalar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94960" y="1051560"/>
            <a:ext cx="3291840" cy="3456432"/>
          </a:xfrm>
          <a:prstGeom prst="rect">
            <a:avLst/>
          </a:prstGeom>
          <a:solidFill>
            <a:srgbClr val="5B1A2E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34440"/>
            <a:ext cx="548640" cy="548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623560" y="192024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Uslubshunoslik va atributsiya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Koʻrsatkichlar mualliflik uslubini miqdoriy asosda tavsiflaydi.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Muallifligi shubhali matnlar atributsiyasini ilmiy dalillar bilan muhokama qilish imkonini beradi.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Innovatsionlik: analoglarda yoʻq qatlam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Qamrov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Aruz qatlami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Mumtoz sheʼr izohi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VATEC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Islomgacha eski turkiy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Yoʻq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Yoʻq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 milliy korpusi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Zamonaviy turk tili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Yoʻq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Yoʻq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Oʻzbek tili milliy korpusi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Zamonaviy oʻzbek tili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Yoʻq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Yoʻq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Alisher Navoiy korpusi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Bitta muallif, XV asr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Yoʻq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Turkigoʻy adiblar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Koʻp muallifli mumtoz sheʼriyat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4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4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051560"/>
            <a:ext cx="2834640" cy="3566160"/>
          </a:xfrm>
          <a:prstGeom prst="rect">
            <a:avLst/>
          </a:prstGeom>
          <a:solidFill>
            <a:srgbClr val="2E4A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2344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80760" y="182880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Aruz-vazn annotatsiyasi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baytning vazni va taqteʼi qayd etiladi. Bitta soʻrovda misra boʻyicha leksik, grammatik va poetik maʼlumot olinadi.</a:t>
            </a:r>
            <a:endParaRPr lang="en-US" sz="17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turkiy korpuslarning hech birida bunday qatlam yoʻq. Loyihaning 4-bosqichida joriy etiladi.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Foydalanuvchi nima oladi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5B1A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26187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Lemma qidiruvi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Turli nashrlardagi yozilish variantlari bitta asos ostida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64408" y="1097280"/>
            <a:ext cx="640080" cy="640080"/>
          </a:xfrm>
          <a:prstGeom prst="ellipse">
            <a:avLst/>
          </a:prstGeom>
          <a:solidFill>
            <a:srgbClr val="5B1A2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61872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041648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Konkordans (KWIC)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041648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Soʻz kontekstda, misra bilan birga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71616" y="1097280"/>
            <a:ext cx="640080" cy="640080"/>
          </a:xfrm>
          <a:prstGeom prst="ellipse">
            <a:avLst/>
          </a:prstGeom>
          <a:solidFill>
            <a:srgbClr val="5B1A2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26187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48856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Statistika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848856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Chastota, type-token, hapax, N-grammlar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2E4A3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09067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Filtrlar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23444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Muallif, janr va devon boʻyicha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264408" y="2926080"/>
            <a:ext cx="640080" cy="640080"/>
          </a:xfrm>
          <a:prstGeom prst="ellipse">
            <a:avLst/>
          </a:prstGeom>
          <a:solidFill>
            <a:srgbClr val="2E4A3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090672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041648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Tayyor iqtibos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4041648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bayt nashr, yil va sahifa bilan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071616" y="2926080"/>
            <a:ext cx="640080" cy="640080"/>
          </a:xfrm>
          <a:prstGeom prst="ellipse">
            <a:avLst/>
          </a:prstGeom>
          <a:solidFill>
            <a:srgbClr val="2E4A3F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090672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848856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Eksport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848856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va TEI/XML formatlarida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Ilmiy va amaliy ahamiyat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17373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5B1A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Textologiya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Nashrlararo tafovutlarni qiyoslash; nashr xatolarini aniqlash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64408" y="1051560"/>
            <a:ext cx="2606040" cy="17373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9" name="Shape 6"/>
          <p:cNvSpPr/>
          <p:nvPr/>
        </p:nvSpPr>
        <p:spPr>
          <a:xfrm>
            <a:off x="3447288" y="1234440"/>
            <a:ext cx="548640" cy="548640"/>
          </a:xfrm>
          <a:prstGeom prst="ellipse">
            <a:avLst/>
          </a:prstGeom>
          <a:solidFill>
            <a:srgbClr val="5B1A2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3716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33088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Tarixiy leksikografiya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Soʻzlarning davriy qoʻllanishini kuzatish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71616" y="1051560"/>
            <a:ext cx="2606040" cy="17373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4" name="Shape 10"/>
          <p:cNvSpPr/>
          <p:nvPr/>
        </p:nvSpPr>
        <p:spPr>
          <a:xfrm>
            <a:off x="6254496" y="1234440"/>
            <a:ext cx="548640" cy="548640"/>
          </a:xfrm>
          <a:prstGeom prst="ellipse">
            <a:avLst/>
          </a:prstGeom>
          <a:solidFill>
            <a:srgbClr val="5B1A2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3716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0296" y="1234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Uslubshunoslik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Mualliflik uslubini lingvostatistik aniqlash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971800"/>
            <a:ext cx="2606040" cy="17373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2E4A3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Qiyosiy turkiyshunoslik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Turkiy davlatlar olimlari bilan yagona metodologik maydon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64408" y="2971800"/>
            <a:ext cx="2606040" cy="17373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24" name="Shape 18"/>
          <p:cNvSpPr/>
          <p:nvPr/>
        </p:nvSpPr>
        <p:spPr>
          <a:xfrm>
            <a:off x="3447288" y="3154680"/>
            <a:ext cx="548640" cy="548640"/>
          </a:xfrm>
          <a:prstGeom prst="ellipse">
            <a:avLst/>
          </a:prstGeom>
          <a:solidFill>
            <a:srgbClr val="2E4A3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2918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33088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Lingvodidaktika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XV–XIX asr til uslubini zamonaviy til bilan qiyoslab oʻrgatish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71616" y="2971800"/>
            <a:ext cx="2606040" cy="173736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29" name="Shape 22"/>
          <p:cNvSpPr/>
          <p:nvPr/>
        </p:nvSpPr>
        <p:spPr>
          <a:xfrm>
            <a:off x="6254496" y="3154680"/>
            <a:ext cx="548640" cy="548640"/>
          </a:xfrm>
          <a:prstGeom prst="ellipse">
            <a:avLst/>
          </a:prstGeom>
          <a:solidFill>
            <a:srgbClr val="2E4A3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6" y="329184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0296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Barqarorlik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3840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standartlar va modulli baza: korpus tadqiqotlar bilan birga oʻsadi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Hozirgi holat va yoʻl xaritasi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 ·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Ishlaydigan prototip: 5 matn, 37 bayt, 475 soʻz — nashr, sahifa va izohlar bilan; qidiruv va statistika ishlaydi; kod GitHubda ochiq. Korpus NamDU mumtoz adabiyot darslarida qoʻllanmoqda.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7498080" cy="0"/>
          </a:xfrm>
          <a:prstGeom prst="line">
            <a:avLst/>
          </a:prstGeom>
          <a:noFill/>
          <a:ln w="25400">
            <a:solidFill>
              <a:srgbClr val="BBB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60604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 va ilmiy maqola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(bajarildi)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85416" y="2606040"/>
            <a:ext cx="274320" cy="27432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36776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IV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36776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arizalari, nashr ruxsatlari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85032" y="2606040"/>
            <a:ext cx="274320" cy="27432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36392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 I–II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36392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korpus: 5 devon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84648" y="2606040"/>
            <a:ext cx="274320" cy="27432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36008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 II–III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36008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Annotatsiya: lemma, morfologiya, aruz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84264" y="2606040"/>
            <a:ext cx="274320" cy="27432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35624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 IV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35624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Aprobatsiya 2–3 OTMda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83880" y="2606040"/>
            <a:ext cx="274320" cy="274320"/>
          </a:xfrm>
          <a:prstGeom prst="ellipse">
            <a:avLst/>
          </a:prstGeom>
          <a:solidFill>
            <a:srgbClr val="5B1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3524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Xizmatlar, yangi adiblar, qoʻlyozma qatlami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gulnozaholdarova7-code.github.io/turkigo-y-adiblar-korpusi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Ochiq manba: nima ochiq, nima himoyalangan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017520"/>
          </a:xfrm>
          <a:prstGeom prst="rect">
            <a:avLst/>
          </a:prstGeom>
          <a:solidFill>
            <a:srgbClr val="5B1A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Dastur kodi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litsenziyasi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9748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Qidiruv, statistika va interfeys kodi GitHubda ochiq; boshqa korpuslar uchun qayta ishlatiladi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64408" y="1097280"/>
            <a:ext cx="2606040" cy="3017520"/>
          </a:xfrm>
          <a:prstGeom prst="rect">
            <a:avLst/>
          </a:prstGeom>
          <a:solidFill>
            <a:srgbClr val="2E4A3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280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93008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Annotatsiyalar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493008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69748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Lemma, morfologik teg, aruz va izohlar mualliflikka havola bilan erkin foydalaniladi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71616" y="1097280"/>
            <a:ext cx="2606040" cy="3017520"/>
          </a:xfrm>
          <a:prstGeom prst="rect">
            <a:avLst/>
          </a:prstGeom>
          <a:solidFill>
            <a:srgbClr val="F4EEF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280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00216" y="1874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Nashr matnlari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300216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 egalari ruxsati bilan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69748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Tuzuvchi va nashriyotlarning huquqlari aniqlanadi, zarur hollarda ruxsat olinadi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 Intellektual mulk markazida roʻyxatdan oʻtkaziladi, soʻng ochiq litsenziya bilan tarqatiladi: mualliflik himoyalanadi, foydalanish erkin boʻladi.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Bozor va tijoratlashtirish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Kimlar uchun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OTM filologiya, tarix, sharqshunoslik fakultetlari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Ilmiy-tadqiqot institutlari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Doktorant va magistrantlar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 oʻquvchilari va abituriyentlar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 va litsey oʻqituvchilari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Turkiy davlatlar universitetlari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Oʻquv markazlari (hamkor: “Ziyokor”)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80560" y="1051560"/>
            <a:ext cx="4206240" cy="7315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663440" y="1051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Bepul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051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 va dastur kodi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4206240" cy="731520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mln soʻm/yil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9202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Joriy etish va qoʻllab-quvvatlash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788920"/>
            <a:ext cx="4206240" cy="7315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788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ming soʻm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788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Malaka oshirish kursi (1 kishi)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3657600"/>
            <a:ext cx="4206240" cy="7315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3657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mln soʻmdan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657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 asosida korpus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526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manba: mahsulot bepul, daromad xizmatlardan (API — 12 mln soʻm/yil) va grantlardan.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jamoasi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645920"/>
          </a:xfrm>
          <a:prstGeom prst="rect">
            <a:avLst/>
          </a:prstGeom>
          <a:solidFill>
            <a:srgbClr val="5B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rahbari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Xoldorova Gulnoza Husniddinovna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NamDU, katta oʻqituvchi, PhD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1097280"/>
            <a:ext cx="2606040" cy="16459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47288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Filolog-matnshunos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1645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Sulaymonov Moʻminjon Yusubjonovich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NamDU, dotsent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71616" y="1097280"/>
            <a:ext cx="2606040" cy="16459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54496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Filolog-pedagog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54496" y="1645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Akbarov Odiljon Ergashevich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286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NamDU, dotsent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06040" cy="16459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Filolog-aruzshunos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74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Rohataliyev Abbosjon Mirzahakim oʻgʻli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NamDU, katta oʻqituvchi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2926080"/>
            <a:ext cx="2606040" cy="16459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47288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Oʻquv-metodik mutaxassis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47288" y="3474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Mamatvaliyev Oʻtkirjon Odiljonovich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“Ziyokor” oʻquv markazi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71616" y="2926080"/>
            <a:ext cx="2606040" cy="1645920"/>
          </a:xfrm>
          <a:prstGeom prst="rect">
            <a:avLst/>
          </a:prstGeom>
          <a:solidFill>
            <a:srgbClr val="F4EE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54496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Dasturchi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54496" y="3474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Boltiboyev Shuhratjon Komiljonovich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54496" y="4114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NamDU, kafedra mudiri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Investitsiya: 582 mln soʻm, 18 oy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754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Daromad prognozi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mln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soʻm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 mln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soʻm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302 mln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3383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soʻm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Prognoz taxminiy, grantlar hisobga olinmagan.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Ilmiy yangilik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1887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Turkiygoʻy mumtoz adiblar merosini koʻp muallifli qamrovda birlashtiruvchi yaxlit korpus modeli taklif etildi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0574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baytni nashr va sahifaga bogʻlovchi, iqtibosga tayyor korpus tuzilmasi ishlab chiqildi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926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Mumtoz sheʼriyat uchun aruz-vazn annotatsiyasi qatlami modeli ishlab chiqildi (joriy etish — keyingi bosqich)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794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 ochiq manba sifatida yaratilib, kod va annotatsiyalar ochiq litsenziyada tarqatiladi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manbalar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Sinclair J. Corpus, Concordance, Collocation. – Oxford: OUP, 1991.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McEnery T., Wilson A. Corpus Linguistics. – Edinburgh: EUP, 1996.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Biber D. Representativeness in Corpus Design // Literary and Linguistic Computing. – 1993. – Vol. 8, № 2. – P. 243–257.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 P., Hardie A., McEnery T. A Glossary of Corpus Linguistics. – Edinburgh: EUP, 2006.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Erdal M. A Grammar of Old Turkic. – Leiden – Boston: Brill, 2004.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Aksan Y. et al. Construction of the Turkish National Corpus (TNC) // LREC’12. – Istanbul: ELRA, 2012. – P. 3223–3227.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Qarshiyev A., Tursunov M., Maxmidov S. Oʻzbek tili milliy korpusini loyihalash // Computer Linguistics: Problems, Solutions, Prospects. – 2022. – Vol. 1, № 1.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 Consortium. TEI P5: Guidelines for Electronic Text Encoding and Interchange, 2023.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VATEC – Vorislamische Alttürkische Texte. – Frankfurt am Main, 1999–2003.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Alisher Navoiy korpusi: alishernavoicorpus.uz; Oʻzbek tilining milliy korpusi: uzbekcorpora.uz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Loyihaning nazariy asosi: “Turkiygoʻy mumtoz adiblar ilmiy elektron korpusini yaratish: tamoyillar, tuzilish va metodologiya” (OAK roʻyxatidagi jurnal) [jurnal, yil, son]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Taʼsir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Ilm-fan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Textologiya, tarixiy leksikografiya va uslubshunoslik uchun empirik baza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Taʼlim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737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OTM talabalari, maktab oʻquvchilari va abituriyentlar uchun bepul manba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Madaniy meros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737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nusxali nashrlarni keng muomalaga chiqarish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Xotin-qizlar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737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Filolog qizlarni raqamli gumanitar fanlarga jalb etish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Xoldorova Gulnoza Husniddinovna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Namangan davlat universiteti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2026-09-26T01:03:54Z</dcterms:created>
  <dcterms:modified xsi:type="dcterms:W3CDTF">2026-09-26T01:03:54Z</dcterms:modified>
</cp:coreProperties>
</file>